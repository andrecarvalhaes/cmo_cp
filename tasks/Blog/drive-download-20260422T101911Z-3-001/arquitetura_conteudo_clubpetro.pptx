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5d8V/iXxKH02Jxb38+ilwoJsa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55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93F"/>
          </a:solidFill>
          <a:ln cap="flat" cmpd="sng" w="12700">
            <a:solidFill>
              <a:srgbClr val="162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583680" y="0"/>
            <a:ext cx="54864" cy="5143500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731520"/>
            <a:ext cx="5760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Arquitetura de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Conteúdo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278892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Blog ClubPetro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3291840"/>
            <a:ext cx="5760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EA8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EA8CC"/>
                </a:solidFill>
                <a:latin typeface="Calibri"/>
                <a:ea typeface="Calibri"/>
                <a:cs typeface="Calibri"/>
                <a:sym typeface="Calibri"/>
              </a:rPr>
              <a:t>Estratégia de Topic Clusters e Pillar Pages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EA8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EA8CC"/>
                </a:solidFill>
                <a:latin typeface="Calibri"/>
                <a:ea typeface="Calibri"/>
                <a:cs typeface="Calibri"/>
                <a:sym typeface="Calibri"/>
              </a:rPr>
              <a:t>Baseada em dados do Google Search Console e Keyword Planner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0" y="164592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Abril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0" y="28346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A8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EA8CC"/>
                </a:solidFill>
                <a:latin typeface="Calibri"/>
                <a:ea typeface="Calibri"/>
                <a:cs typeface="Calibri"/>
                <a:sym typeface="Calibri"/>
              </a:rPr>
              <a:t>Para aprovação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4663440"/>
            <a:ext cx="1097280" cy="36576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473659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A8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EA8CC"/>
                </a:solidFill>
                <a:latin typeface="Calibri"/>
                <a:ea typeface="Calibri"/>
                <a:cs typeface="Calibri"/>
                <a:sym typeface="Calibri"/>
              </a:rPr>
              <a:t>ClubPetro · Marketing de Conteúdo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D3557"/>
                </a:solidFill>
                <a:latin typeface="Calibri"/>
                <a:ea typeface="Calibri"/>
                <a:cs typeface="Calibri"/>
                <a:sym typeface="Calibri"/>
              </a:rPr>
              <a:t>01  O problema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20040" y="804672"/>
            <a:ext cx="1920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320040" y="804672"/>
            <a:ext cx="1920240" cy="54864"/>
          </a:xfrm>
          <a:prstGeom prst="rect">
            <a:avLst/>
          </a:prstGeom>
          <a:solidFill>
            <a:srgbClr val="1D3557"/>
          </a:solidFill>
          <a:ln cap="flat" cmpd="sng" w="12700">
            <a:solidFill>
              <a:srgbClr val="1D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320040" y="9601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355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D3557"/>
                </a:solidFill>
                <a:latin typeface="Calibri"/>
                <a:ea typeface="Calibri"/>
                <a:cs typeface="Calibri"/>
                <a:sym typeface="Calibri"/>
              </a:rPr>
              <a:t>373k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20040" y="16002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Impressões no Google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20040" y="185623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últimos 3 meses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2468880" y="804672"/>
            <a:ext cx="1920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2468880" y="804672"/>
            <a:ext cx="1920240" cy="54864"/>
          </a:xfrm>
          <a:prstGeom prst="rect">
            <a:avLst/>
          </a:prstGeom>
          <a:solidFill>
            <a:srgbClr val="2C5F8A"/>
          </a:solidFill>
          <a:ln cap="flat" cmpd="sng" w="12700">
            <a:solidFill>
              <a:srgbClr val="2C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2468880" y="9601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1.890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468880" y="16002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Cliques recebidos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2468880" y="185623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 médio de 2,5%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617720" y="804672"/>
            <a:ext cx="1920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4617720" y="804672"/>
            <a:ext cx="1920240" cy="54864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4617720" y="9601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5,6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617720" y="16002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Posição média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617720" y="185623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quase na 1ª página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6766560" y="804672"/>
            <a:ext cx="1920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6766560" y="804672"/>
            <a:ext cx="1920240" cy="54864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766560" y="96012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3 de 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766560" y="16002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Clusters invisíveis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766560" y="185623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no Google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20040" y="2377440"/>
            <a:ext cx="8503920" cy="685800"/>
          </a:xfrm>
          <a:prstGeom prst="rect">
            <a:avLst/>
          </a:prstGeom>
          <a:solidFill>
            <a:srgbClr val="FAECE7"/>
          </a:solidFill>
          <a:ln cap="flat" cmpd="sng" w="12700">
            <a:solidFill>
              <a:srgbClr val="FA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4963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429768" y="2468880"/>
            <a:ext cx="384048" cy="384048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25146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1005840" y="2450592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Fidelização — o tema do produto ClubPetro — tem ZERO aparições no Google. Cashback, CRM, programa de pontos: invisíveis para o buscador.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20040" y="3182112"/>
            <a:ext cx="8503920" cy="685800"/>
          </a:xfrm>
          <a:prstGeom prst="rect">
            <a:avLst/>
          </a:prstGeom>
          <a:solidFill>
            <a:srgbClr val="E6F1FB"/>
          </a:solidFill>
          <a:ln cap="flat" cmpd="sng" w="12700">
            <a:solidFill>
              <a:srgbClr val="E6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30098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429768" y="3273552"/>
            <a:ext cx="384048" cy="384048"/>
          </a:xfrm>
          <a:prstGeom prst="rect">
            <a:avLst/>
          </a:prstGeom>
          <a:solidFill>
            <a:srgbClr val="2C5F8A"/>
          </a:solidFill>
          <a:ln cap="flat" cmpd="sng" w="12700">
            <a:solidFill>
              <a:srgbClr val="2C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33192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1005840" y="3255264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"Frentista" gera 105k impressões com CTR de 0,3%. O blog aparece muito, mas não converte. O conteúdo existe, falta arquitetura.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20040" y="3986784"/>
            <a:ext cx="8503920" cy="685800"/>
          </a:xfrm>
          <a:prstGeom prst="rect">
            <a:avLst/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410565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429768" y="4078224"/>
            <a:ext cx="384048" cy="384048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" y="412394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1005840" y="4059936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Gestão operacional — a categoria com mais artigos — aparece 41 vezes no GSC. Artigos soltos não constroem autoridade temática.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AF0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65760" y="4988052"/>
            <a:ext cx="8412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ClubPetro · Arquitetura de Conteúdo · Abril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046720" y="498805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8A"/>
          </a:solidFill>
          <a:ln cap="flat" cmpd="sng" w="12700">
            <a:solidFill>
              <a:srgbClr val="2C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D3557"/>
                </a:solidFill>
                <a:latin typeface="Calibri"/>
                <a:ea typeface="Calibri"/>
                <a:cs typeface="Calibri"/>
                <a:sym typeface="Calibri"/>
              </a:rPr>
              <a:t>02  O que o GSC revela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20040" y="841248"/>
            <a:ext cx="41605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6F1F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320040" y="841248"/>
            <a:ext cx="54864" cy="9144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246120" y="914400"/>
            <a:ext cx="1115568" cy="237744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246120" y="914400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OPORTUNIDADE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84632" y="93268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Frentistas &amp; Equipe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84632" y="1225296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Alto volume, baixo CTR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84632" y="14447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105k imp.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719072" y="14447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 0,3%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953512" y="14447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 3,5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709160" y="841248"/>
            <a:ext cx="41605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AEC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709160" y="841248"/>
            <a:ext cx="54864" cy="914400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7635240" y="914400"/>
            <a:ext cx="1115568" cy="237744"/>
          </a:xfrm>
          <a:prstGeom prst="rect">
            <a:avLst/>
          </a:prstGeom>
          <a:solidFill>
            <a:srgbClr val="FAECE7"/>
          </a:solidFill>
          <a:ln cap="flat" cmpd="sng" w="9525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635240" y="914400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OTIMIZAR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873752" y="932688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Mercado &amp; Petróleo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873752" y="1225296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Volume alto, CTR baixo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873752" y="14447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204k imp.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108192" y="14447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 0,5%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342632" y="144475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 6,0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20040" y="1874520"/>
            <a:ext cx="41605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20040" y="1874520"/>
            <a:ext cx="54864" cy="914400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246120" y="1947672"/>
            <a:ext cx="1115568" cy="237744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246120" y="1947672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MANTER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84632" y="196596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Certificado / ANP / Lei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84632" y="2258568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Melhor CTR do blog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84632" y="247802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31k imp.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719072" y="247802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 4-5%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953512" y="247802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 5,9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709160" y="1874520"/>
            <a:ext cx="41605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6F1F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709160" y="1874520"/>
            <a:ext cx="54864" cy="914400"/>
          </a:xfrm>
          <a:prstGeom prst="rect">
            <a:avLst/>
          </a:prstGeom>
          <a:solidFill>
            <a:srgbClr val="2C5F8A"/>
          </a:solidFill>
          <a:ln cap="flat" cmpd="sng" w="12700">
            <a:solidFill>
              <a:srgbClr val="2C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7635240" y="1947672"/>
            <a:ext cx="1115568" cy="237744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2C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7635240" y="1947672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SUBIR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873752" y="196596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Abertura de posto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873752" y="2258568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Quase na 1ª página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873752" y="247802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3,1k imp.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108192" y="247802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 0,7%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342632" y="247802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 6,8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20040" y="2907792"/>
            <a:ext cx="41605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0EBF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320040" y="2907792"/>
            <a:ext cx="54864" cy="914400"/>
          </a:xfrm>
          <a:prstGeom prst="rect">
            <a:avLst/>
          </a:prstGeom>
          <a:solidFill>
            <a:srgbClr val="7B5EA7"/>
          </a:solidFill>
          <a:ln cap="flat" cmpd="sng" w="12700">
            <a:solidFill>
              <a:srgbClr val="7B5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246120" y="2980944"/>
            <a:ext cx="1115568" cy="237744"/>
          </a:xfrm>
          <a:prstGeom prst="rect">
            <a:avLst/>
          </a:prstGeom>
          <a:solidFill>
            <a:srgbClr val="F0EBF8"/>
          </a:solidFill>
          <a:ln cap="flat" cmpd="sng" w="9525">
            <a:solidFill>
              <a:srgbClr val="7B5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3246120" y="2980944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5EA7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7B5EA7"/>
                </a:solidFill>
                <a:latin typeface="Calibri"/>
                <a:ea typeface="Calibri"/>
                <a:cs typeface="Calibri"/>
                <a:sym typeface="Calibri"/>
              </a:rPr>
              <a:t>NOVO CLUSTER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84632" y="299923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Loja de conveniência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84632" y="3291840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Cluster sem pillar page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84632" y="351129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5E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B5EA7"/>
                </a:solidFill>
                <a:latin typeface="Calibri"/>
                <a:ea typeface="Calibri"/>
                <a:cs typeface="Calibri"/>
                <a:sym typeface="Calibri"/>
              </a:rPr>
              <a:t>13,5k imp.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719072" y="351129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 0,6%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953512" y="351129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 5,9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709160" y="2907792"/>
            <a:ext cx="41605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AEED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709160" y="2907792"/>
            <a:ext cx="54864" cy="914400"/>
          </a:xfrm>
          <a:prstGeom prst="rect">
            <a:avLst/>
          </a:prstGeom>
          <a:solidFill>
            <a:srgbClr val="854F0B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635240" y="2980944"/>
            <a:ext cx="1115568" cy="237744"/>
          </a:xfrm>
          <a:prstGeom prst="rect">
            <a:avLst/>
          </a:prstGeom>
          <a:solidFill>
            <a:srgbClr val="FAEEDA"/>
          </a:solidFill>
          <a:ln cap="flat" cmpd="sng" w="9525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7635240" y="2980944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CRIAR CATEGORIA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873752" y="299923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Financeiro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873752" y="3291840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Demanda real sem estrutura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873752" y="351129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1,5k imp.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108192" y="351129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 0,2%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342632" y="351129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 8,1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20040" y="3941064"/>
            <a:ext cx="41605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CEB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20040" y="3941064"/>
            <a:ext cx="54864" cy="914400"/>
          </a:xfrm>
          <a:prstGeom prst="rect">
            <a:avLst/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246120" y="4014216"/>
            <a:ext cx="1115568" cy="237744"/>
          </a:xfrm>
          <a:prstGeom prst="rect">
            <a:avLst/>
          </a:prstGeom>
          <a:solidFill>
            <a:srgbClr val="FCEBEB"/>
          </a:solidFill>
          <a:ln cap="flat" cmpd="sng" w="9525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3246120" y="4014216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84632" y="40325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Fidelização / CRM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84632" y="4325112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INVISÍVEL no Google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84632" y="454456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132 imp.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719072" y="454456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 2,3%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953512" y="454456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 6,7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709160" y="3941064"/>
            <a:ext cx="416052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CEB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4709160" y="3941064"/>
            <a:ext cx="54864" cy="914400"/>
          </a:xfrm>
          <a:prstGeom prst="rect">
            <a:avLst/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7635240" y="4014216"/>
            <a:ext cx="1115568" cy="237744"/>
          </a:xfrm>
          <a:prstGeom prst="rect">
            <a:avLst/>
          </a:prstGeom>
          <a:solidFill>
            <a:srgbClr val="FCEBEB"/>
          </a:solidFill>
          <a:ln cap="flat" cmpd="sng" w="9525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7635240" y="4014216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CRÍTICO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873752" y="40325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Gestão operacional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873752" y="4325112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INVISÍVEL no Google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873752" y="454456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41 imp.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108192" y="454456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 2,4%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7342632" y="454456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 12,9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AF0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365760" y="4988052"/>
            <a:ext cx="8412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ClubPetro · Arquitetura de Conteúdo · Abril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8046720" y="498805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D3557"/>
                </a:solidFill>
                <a:latin typeface="Calibri"/>
                <a:ea typeface="Calibri"/>
                <a:cs typeface="Calibri"/>
                <a:sym typeface="Calibri"/>
              </a:rPr>
              <a:t>03  A solução: Topic Clusters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474720" y="1572768"/>
            <a:ext cx="2194560" cy="658368"/>
          </a:xfrm>
          <a:prstGeom prst="rect">
            <a:avLst/>
          </a:prstGeom>
          <a:solidFill>
            <a:srgbClr val="1D3557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3474720" y="162763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PILLAR PAGE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474720" y="186537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Guia central do tema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2400300" y="786384"/>
            <a:ext cx="1234440" cy="530352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B5D4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2400300" y="82296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Artigo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de suporte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5"/>
          <p:cNvCxnSpPr/>
          <p:nvPr/>
        </p:nvCxnSpPr>
        <p:spPr>
          <a:xfrm>
            <a:off x="3017520" y="1316736"/>
            <a:ext cx="0" cy="256032"/>
          </a:xfrm>
          <a:prstGeom prst="straightConnector1">
            <a:avLst/>
          </a:prstGeom>
          <a:noFill/>
          <a:ln cap="flat" cmpd="sng" w="10150">
            <a:solidFill>
              <a:srgbClr val="85B7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5" name="Google Shape;165;p5"/>
          <p:cNvSpPr/>
          <p:nvPr/>
        </p:nvSpPr>
        <p:spPr>
          <a:xfrm>
            <a:off x="3954780" y="786384"/>
            <a:ext cx="1234440" cy="530352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B5D4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3954780" y="82296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Artigo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de suporte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5"/>
          <p:cNvCxnSpPr/>
          <p:nvPr/>
        </p:nvCxnSpPr>
        <p:spPr>
          <a:xfrm>
            <a:off x="4572000" y="1316736"/>
            <a:ext cx="0" cy="256032"/>
          </a:xfrm>
          <a:prstGeom prst="straightConnector1">
            <a:avLst/>
          </a:prstGeom>
          <a:noFill/>
          <a:ln cap="flat" cmpd="sng" w="10150">
            <a:solidFill>
              <a:srgbClr val="85B7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8" name="Google Shape;168;p5"/>
          <p:cNvSpPr/>
          <p:nvPr/>
        </p:nvSpPr>
        <p:spPr>
          <a:xfrm>
            <a:off x="5509260" y="786384"/>
            <a:ext cx="1234440" cy="530352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B5D4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5509260" y="82296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Artigo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de suporte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5"/>
          <p:cNvCxnSpPr/>
          <p:nvPr/>
        </p:nvCxnSpPr>
        <p:spPr>
          <a:xfrm>
            <a:off x="6126480" y="1316736"/>
            <a:ext cx="0" cy="256032"/>
          </a:xfrm>
          <a:prstGeom prst="straightConnector1">
            <a:avLst/>
          </a:prstGeom>
          <a:noFill/>
          <a:ln cap="flat" cmpd="sng" w="10150">
            <a:solidFill>
              <a:srgbClr val="85B7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1" name="Google Shape;171;p5"/>
          <p:cNvSpPr/>
          <p:nvPr/>
        </p:nvSpPr>
        <p:spPr>
          <a:xfrm>
            <a:off x="2400300" y="2487168"/>
            <a:ext cx="1234440" cy="530352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B5D4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2400300" y="2523744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Artigo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de suporte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5"/>
          <p:cNvCxnSpPr/>
          <p:nvPr/>
        </p:nvCxnSpPr>
        <p:spPr>
          <a:xfrm>
            <a:off x="3017520" y="2231136"/>
            <a:ext cx="0" cy="256032"/>
          </a:xfrm>
          <a:prstGeom prst="straightConnector1">
            <a:avLst/>
          </a:prstGeom>
          <a:noFill/>
          <a:ln cap="flat" cmpd="sng" w="10150">
            <a:solidFill>
              <a:srgbClr val="85B7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4" name="Google Shape;174;p5"/>
          <p:cNvSpPr/>
          <p:nvPr/>
        </p:nvSpPr>
        <p:spPr>
          <a:xfrm>
            <a:off x="3954780" y="2487168"/>
            <a:ext cx="1234440" cy="530352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B5D4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3954780" y="2523744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Artigo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de suporte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5"/>
          <p:cNvCxnSpPr/>
          <p:nvPr/>
        </p:nvCxnSpPr>
        <p:spPr>
          <a:xfrm>
            <a:off x="4572000" y="2231136"/>
            <a:ext cx="0" cy="256032"/>
          </a:xfrm>
          <a:prstGeom prst="straightConnector1">
            <a:avLst/>
          </a:prstGeom>
          <a:noFill/>
          <a:ln cap="flat" cmpd="sng" w="10150">
            <a:solidFill>
              <a:srgbClr val="85B7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7" name="Google Shape;177;p5"/>
          <p:cNvSpPr/>
          <p:nvPr/>
        </p:nvSpPr>
        <p:spPr>
          <a:xfrm>
            <a:off x="5509260" y="2487168"/>
            <a:ext cx="1234440" cy="530352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B5D4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5509260" y="2523744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Artigo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de suporte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5"/>
          <p:cNvCxnSpPr/>
          <p:nvPr/>
        </p:nvCxnSpPr>
        <p:spPr>
          <a:xfrm>
            <a:off x="6126480" y="2231136"/>
            <a:ext cx="0" cy="256032"/>
          </a:xfrm>
          <a:prstGeom prst="straightConnector1">
            <a:avLst/>
          </a:prstGeom>
          <a:noFill/>
          <a:ln cap="flat" cmpd="sng" w="10150">
            <a:solidFill>
              <a:srgbClr val="85B7E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0" name="Google Shape;180;p5"/>
          <p:cNvSpPr/>
          <p:nvPr/>
        </p:nvSpPr>
        <p:spPr>
          <a:xfrm>
            <a:off x="3017520" y="227685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← links internos bidirecionais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20040" y="3337560"/>
            <a:ext cx="269748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320040" y="3337560"/>
            <a:ext cx="2697480" cy="54864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502920" y="344728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Autoridade temática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02920" y="3776472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O Google reconhece o blog como referência no assunto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3200400" y="3337560"/>
            <a:ext cx="269748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3200400" y="3337560"/>
            <a:ext cx="2697480" cy="54864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3383280" y="344728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Mais tráfego orgânico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383280" y="3776472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Artigos conectados ranqueiam melhor coletivamente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080760" y="3337560"/>
            <a:ext cx="269748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6080760" y="3337560"/>
            <a:ext cx="2697480" cy="54864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263640" y="344728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Menos CTR desperdiçado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263640" y="3776472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Pillar page clara = mais cliques nas impressões existentes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AF0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365760" y="4988052"/>
            <a:ext cx="8412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ClubPetro · Arquitetura de Conteúdo · Abril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8046720" y="498805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3557"/>
          </a:solidFill>
          <a:ln cap="flat" cmpd="sng" w="12700">
            <a:solidFill>
              <a:srgbClr val="1D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D3557"/>
                </a:solidFill>
                <a:latin typeface="Calibri"/>
                <a:ea typeface="Calibri"/>
                <a:cs typeface="Calibri"/>
                <a:sym typeface="Calibri"/>
              </a:rPr>
              <a:t>04  Estrutura proposta por categoria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20040" y="868680"/>
            <a:ext cx="260604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EED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320040" y="868680"/>
            <a:ext cx="2606040" cy="64008"/>
          </a:xfrm>
          <a:prstGeom prst="rect">
            <a:avLst/>
          </a:prstGeom>
          <a:solidFill>
            <a:srgbClr val="3C3489"/>
          </a:solidFill>
          <a:ln cap="flat" cmpd="sng" w="12700">
            <a:solidFill>
              <a:srgbClr val="3C3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84632" y="97840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4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Fidelização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6"/>
          <p:cNvCxnSpPr/>
          <p:nvPr/>
        </p:nvCxnSpPr>
        <p:spPr>
          <a:xfrm>
            <a:off x="484632" y="1371600"/>
            <a:ext cx="2276856" cy="0"/>
          </a:xfrm>
          <a:prstGeom prst="straightConnector1">
            <a:avLst/>
          </a:prstGeom>
          <a:noFill/>
          <a:ln cap="flat" cmpd="sng" w="9525">
            <a:solidFill>
              <a:srgbClr val="EEED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6"/>
          <p:cNvSpPr/>
          <p:nvPr/>
        </p:nvSpPr>
        <p:spPr>
          <a:xfrm>
            <a:off x="484632" y="14630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3 clusters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84632" y="173736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3 pillar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" y="20116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Criar 2 · 9 publicados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154680" y="868680"/>
            <a:ext cx="260604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154680" y="868680"/>
            <a:ext cx="2606040" cy="64008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3319272" y="97840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Gestão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6"/>
          <p:cNvCxnSpPr/>
          <p:nvPr/>
        </p:nvCxnSpPr>
        <p:spPr>
          <a:xfrm>
            <a:off x="3319272" y="1371600"/>
            <a:ext cx="2276856" cy="0"/>
          </a:xfrm>
          <a:prstGeom prst="straightConnector1">
            <a:avLst/>
          </a:prstGeom>
          <a:noFill/>
          <a:ln cap="flat" cmpd="sng" w="9525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6"/>
          <p:cNvSpPr/>
          <p:nvPr/>
        </p:nvSpPr>
        <p:spPr>
          <a:xfrm>
            <a:off x="3319272" y="14630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3 clusters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319272" y="173736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3 pillar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319272" y="20116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Criar 4 · 10 publicados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989320" y="868680"/>
            <a:ext cx="260604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6F1F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5989320" y="868680"/>
            <a:ext cx="2606040" cy="64008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6153912" y="97840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Equipe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6"/>
          <p:cNvCxnSpPr/>
          <p:nvPr/>
        </p:nvCxnSpPr>
        <p:spPr>
          <a:xfrm>
            <a:off x="6153912" y="1371600"/>
            <a:ext cx="2276856" cy="0"/>
          </a:xfrm>
          <a:prstGeom prst="straightConnector1">
            <a:avLst/>
          </a:prstGeom>
          <a:noFill/>
          <a:ln cap="flat" cmpd="sng" w="9525">
            <a:solidFill>
              <a:srgbClr val="E6F1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6"/>
          <p:cNvSpPr/>
          <p:nvPr/>
        </p:nvSpPr>
        <p:spPr>
          <a:xfrm>
            <a:off x="6153912" y="14630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2 clusters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153912" y="173736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2 pillar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153912" y="20116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Criar 3 · 9 publicados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320040" y="2697480"/>
            <a:ext cx="260604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AEC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320040" y="2697480"/>
            <a:ext cx="2606040" cy="64008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484632" y="280720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Mercado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484632" y="3200400"/>
            <a:ext cx="2276856" cy="0"/>
          </a:xfrm>
          <a:prstGeom prst="straightConnector1">
            <a:avLst/>
          </a:prstGeom>
          <a:noFill/>
          <a:ln cap="flat" cmpd="sng" w="9525">
            <a:solidFill>
              <a:srgbClr val="FAEC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/>
          <p:nvPr/>
        </p:nvSpPr>
        <p:spPr>
          <a:xfrm>
            <a:off x="484632" y="32918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2 clusters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84632" y="356616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2 pillar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484632" y="38404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Criar 2 · 9 publicados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154680" y="2697480"/>
            <a:ext cx="260604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AEED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3154680" y="2697480"/>
            <a:ext cx="2606040" cy="64008"/>
          </a:xfrm>
          <a:prstGeom prst="rect">
            <a:avLst/>
          </a:prstGeom>
          <a:solidFill>
            <a:srgbClr val="854F0B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4937760" y="2807208"/>
            <a:ext cx="713232" cy="201168"/>
          </a:xfrm>
          <a:prstGeom prst="rect">
            <a:avLst/>
          </a:prstGeom>
          <a:solidFill>
            <a:srgbClr val="854F0B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4937760" y="2807208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3319272" y="280720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Financeiro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6"/>
          <p:cNvCxnSpPr/>
          <p:nvPr/>
        </p:nvCxnSpPr>
        <p:spPr>
          <a:xfrm>
            <a:off x="3319272" y="3200400"/>
            <a:ext cx="2276856" cy="0"/>
          </a:xfrm>
          <a:prstGeom prst="straightConnector1">
            <a:avLst/>
          </a:prstGeom>
          <a:noFill/>
          <a:ln cap="flat" cmpd="sng" w="9525">
            <a:solidFill>
              <a:srgbClr val="FAEE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6"/>
          <p:cNvSpPr/>
          <p:nvPr/>
        </p:nvSpPr>
        <p:spPr>
          <a:xfrm>
            <a:off x="3319272" y="32918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1 cluster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3319272" y="356616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1 pillar 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3319272" y="38404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Criar 3 · 5 a migrar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320040" y="4407408"/>
            <a:ext cx="8503920" cy="502920"/>
          </a:xfrm>
          <a:prstGeom prst="rect">
            <a:avLst/>
          </a:prstGeom>
          <a:solidFill>
            <a:srgbClr val="1D3557"/>
          </a:solidFill>
          <a:ln cap="flat" cmpd="sng" w="12700">
            <a:solidFill>
              <a:srgbClr val="1D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502920" y="445312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clusters no 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6"/>
          <p:cNvCxnSpPr/>
          <p:nvPr/>
        </p:nvCxnSpPr>
        <p:spPr>
          <a:xfrm>
            <a:off x="2167128" y="4480560"/>
            <a:ext cx="0" cy="274320"/>
          </a:xfrm>
          <a:prstGeom prst="straightConnector1">
            <a:avLst/>
          </a:prstGeom>
          <a:noFill/>
          <a:ln cap="flat" cmpd="sng" w="9525">
            <a:solidFill>
              <a:srgbClr val="3A5A7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6"/>
          <p:cNvSpPr/>
          <p:nvPr/>
        </p:nvSpPr>
        <p:spPr>
          <a:xfrm>
            <a:off x="2167128" y="445312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pillar pages a criar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6"/>
          <p:cNvCxnSpPr/>
          <p:nvPr/>
        </p:nvCxnSpPr>
        <p:spPr>
          <a:xfrm>
            <a:off x="3831336" y="4480560"/>
            <a:ext cx="0" cy="274320"/>
          </a:xfrm>
          <a:prstGeom prst="straightConnector1">
            <a:avLst/>
          </a:prstGeom>
          <a:noFill/>
          <a:ln cap="flat" cmpd="sng" w="9525">
            <a:solidFill>
              <a:srgbClr val="3A5A7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6"/>
          <p:cNvSpPr/>
          <p:nvPr/>
        </p:nvSpPr>
        <p:spPr>
          <a:xfrm>
            <a:off x="3831336" y="445312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 artigos novos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6"/>
          <p:cNvCxnSpPr/>
          <p:nvPr/>
        </p:nvCxnSpPr>
        <p:spPr>
          <a:xfrm>
            <a:off x="5495544" y="4480560"/>
            <a:ext cx="0" cy="274320"/>
          </a:xfrm>
          <a:prstGeom prst="straightConnector1">
            <a:avLst/>
          </a:prstGeom>
          <a:noFill/>
          <a:ln cap="flat" cmpd="sng" w="9525">
            <a:solidFill>
              <a:srgbClr val="3A5A7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6"/>
          <p:cNvSpPr/>
          <p:nvPr/>
        </p:nvSpPr>
        <p:spPr>
          <a:xfrm>
            <a:off x="5495544" y="445312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artigos a migrar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6"/>
          <p:cNvCxnSpPr/>
          <p:nvPr/>
        </p:nvCxnSpPr>
        <p:spPr>
          <a:xfrm>
            <a:off x="7159752" y="4480560"/>
            <a:ext cx="0" cy="274320"/>
          </a:xfrm>
          <a:prstGeom prst="straightConnector1">
            <a:avLst/>
          </a:prstGeom>
          <a:noFill/>
          <a:ln cap="flat" cmpd="sng" w="9525">
            <a:solidFill>
              <a:srgbClr val="3A5A7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6"/>
          <p:cNvSpPr/>
          <p:nvPr/>
        </p:nvSpPr>
        <p:spPr>
          <a:xfrm>
            <a:off x="7159752" y="445312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 artigos já publicados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AF0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365760" y="4988052"/>
            <a:ext cx="8412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ClubPetro · Arquitetura de Conteúdo · Abril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8046720" y="498805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D3557"/>
                </a:solidFill>
                <a:latin typeface="Calibri"/>
                <a:ea typeface="Calibri"/>
                <a:cs typeface="Calibri"/>
                <a:sym typeface="Calibri"/>
              </a:rPr>
              <a:t>Tráfego que já existe e não está sendo aproveitado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Ações de baixo esforço com resultado imediato — sem publicar nenhum artigo novo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20040" y="1024128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502920" y="10972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"frentista"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2834640" y="106070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24.302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2834640" y="13167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imp.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794760" y="106070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0,05%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794760" y="131673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572000" y="1060704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3,2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572000" y="131673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7"/>
          <p:cNvCxnSpPr/>
          <p:nvPr/>
        </p:nvCxnSpPr>
        <p:spPr>
          <a:xfrm>
            <a:off x="5166360" y="1115568"/>
            <a:ext cx="0" cy="384048"/>
          </a:xfrm>
          <a:prstGeom prst="straightConnector1">
            <a:avLst/>
          </a:prstGeom>
          <a:noFill/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7"/>
          <p:cNvSpPr/>
          <p:nvPr/>
        </p:nvSpPr>
        <p:spPr>
          <a:xfrm>
            <a:off x="5303520" y="10972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Criar pillar page → resultado em semanas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8092440" y="1161288"/>
            <a:ext cx="658368" cy="228600"/>
          </a:xfrm>
          <a:prstGeom prst="rect">
            <a:avLst/>
          </a:prstGeom>
          <a:solidFill>
            <a:srgbClr val="FAEEDA"/>
          </a:solidFill>
          <a:ln cap="flat" cmpd="sng" w="9525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8092440" y="1161288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Médio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320040" y="1664208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502920" y="17373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"frentista de posto"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2834640" y="170078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7.817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834640" y="195681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imp.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3794760" y="170078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0,22%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3794760" y="195681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572000" y="1700784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1,6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4572000" y="195681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7"/>
          <p:cNvCxnSpPr/>
          <p:nvPr/>
        </p:nvCxnSpPr>
        <p:spPr>
          <a:xfrm>
            <a:off x="5166360" y="1755648"/>
            <a:ext cx="0" cy="384048"/>
          </a:xfrm>
          <a:prstGeom prst="straightConnector1">
            <a:avLst/>
          </a:prstGeom>
          <a:noFill/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7"/>
          <p:cNvSpPr/>
          <p:nvPr/>
        </p:nvSpPr>
        <p:spPr>
          <a:xfrm>
            <a:off x="5303520" y="17373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Otimizar título e meta 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8092440" y="1801368"/>
            <a:ext cx="658368" cy="228600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8092440" y="1801368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Baixo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320040" y="2304288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502920" y="23774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"quanto ganha um frentista"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2834640" y="234086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5.628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2834640" y="259689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imp.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3794760" y="234086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0,18%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3794760" y="259689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4572000" y="2340864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2,8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4572000" y="259689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7"/>
          <p:cNvCxnSpPr/>
          <p:nvPr/>
        </p:nvCxnSpPr>
        <p:spPr>
          <a:xfrm>
            <a:off x="5166360" y="2395728"/>
            <a:ext cx="0" cy="384048"/>
          </a:xfrm>
          <a:prstGeom prst="straightConnector1">
            <a:avLst/>
          </a:prstGeom>
          <a:noFill/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7"/>
          <p:cNvSpPr/>
          <p:nvPr/>
        </p:nvSpPr>
        <p:spPr>
          <a:xfrm>
            <a:off x="5303520" y="23774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Responder a pergunta já no título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8092440" y="2441448"/>
            <a:ext cx="658368" cy="228600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8092440" y="2441448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Baixo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320040" y="2944368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502920" y="301752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"loja de conveniência"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2834640" y="29809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5.236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2834640" y="323697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imp.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3794760" y="298094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0,06%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3794760" y="323697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4572000" y="2980944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4,5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4572000" y="323697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7"/>
          <p:cNvCxnSpPr/>
          <p:nvPr/>
        </p:nvCxnSpPr>
        <p:spPr>
          <a:xfrm>
            <a:off x="5166360" y="3035808"/>
            <a:ext cx="0" cy="384048"/>
          </a:xfrm>
          <a:prstGeom prst="straightConnector1">
            <a:avLst/>
          </a:prstGeom>
          <a:noFill/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7"/>
          <p:cNvSpPr/>
          <p:nvPr/>
        </p:nvSpPr>
        <p:spPr>
          <a:xfrm>
            <a:off x="5303520" y="30175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Criar subcluster + pillar 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8092440" y="3081528"/>
            <a:ext cx="658368" cy="228600"/>
          </a:xfrm>
          <a:prstGeom prst="rect">
            <a:avLst/>
          </a:prstGeom>
          <a:solidFill>
            <a:srgbClr val="FAEEDA"/>
          </a:solidFill>
          <a:ln cap="flat" cmpd="sng" w="9525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8092440" y="3081528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Médio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320040" y="3584448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502920" y="36576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"gasolina aditivada rende mais"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2834640" y="362102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3.904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28346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imp.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3794760" y="362102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0,05%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3794760" y="387705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4572000" y="3621024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1,3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4572000" y="387705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7"/>
          <p:cNvCxnSpPr/>
          <p:nvPr/>
        </p:nvCxnSpPr>
        <p:spPr>
          <a:xfrm>
            <a:off x="5166360" y="3675888"/>
            <a:ext cx="0" cy="384048"/>
          </a:xfrm>
          <a:prstGeom prst="straightConnector1">
            <a:avLst/>
          </a:prstGeom>
          <a:noFill/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7"/>
          <p:cNvSpPr/>
          <p:nvPr/>
        </p:nvSpPr>
        <p:spPr>
          <a:xfrm>
            <a:off x="5303520" y="36576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Melhorar snippet — posição 1 com CTR ruim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8092440" y="3721608"/>
            <a:ext cx="658368" cy="228600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8092440" y="3721608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Baixo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320040" y="4224528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502920" y="42976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"brasil autossuficiente petróleo"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2834640" y="426110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4.490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2834640" y="45171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imp.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3794760" y="426110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0,33%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3794760" y="451713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CTR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4572000" y="4261104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4,3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4572000" y="451713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pos.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7"/>
          <p:cNvCxnSpPr/>
          <p:nvPr/>
        </p:nvCxnSpPr>
        <p:spPr>
          <a:xfrm>
            <a:off x="5166360" y="4315968"/>
            <a:ext cx="0" cy="384048"/>
          </a:xfrm>
          <a:prstGeom prst="straightConnector1">
            <a:avLst/>
          </a:prstGeom>
          <a:noFill/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7"/>
          <p:cNvSpPr/>
          <p:nvPr/>
        </p:nvSpPr>
        <p:spPr>
          <a:xfrm>
            <a:off x="5303520" y="42976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Otimizar title tag e adicionar links internos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8092440" y="4361688"/>
            <a:ext cx="658368" cy="228600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7"/>
          <p:cNvSpPr/>
          <p:nvPr/>
        </p:nvSpPr>
        <p:spPr>
          <a:xfrm>
            <a:off x="8092440" y="4361688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Baixo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AF0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"/>
          <p:cNvSpPr/>
          <p:nvPr/>
        </p:nvSpPr>
        <p:spPr>
          <a:xfrm>
            <a:off x="365760" y="4988052"/>
            <a:ext cx="8412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ClubPetro · Arquitetura de Conteúdo · Abril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8046720" y="498805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3557"/>
          </a:solidFill>
          <a:ln cap="flat" cmpd="sng" w="12700">
            <a:solidFill>
              <a:srgbClr val="1D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D3557"/>
                </a:solidFill>
                <a:latin typeface="Calibri"/>
                <a:ea typeface="Calibri"/>
                <a:cs typeface="Calibri"/>
                <a:sym typeface="Calibri"/>
              </a:rPr>
              <a:t>05  Ordem de execução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365760" y="896112"/>
            <a:ext cx="365760" cy="365760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365760" y="8961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868680" y="877824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Otimizar títulos e meta descriptions dos artigos de frentista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5989320" y="95097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Equipe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7315200" y="932688"/>
            <a:ext cx="658368" cy="237744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7315200" y="932688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Baixo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8046720" y="969264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Imediato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365760" y="1508760"/>
            <a:ext cx="365760" cy="365760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36576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868680" y="149047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Criar pillar page de Frentistas + linkar artigos existentes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5989320" y="156362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Equipe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7315200" y="1545336"/>
            <a:ext cx="658368" cy="237744"/>
          </a:xfrm>
          <a:prstGeom prst="rect">
            <a:avLst/>
          </a:prstGeom>
          <a:solidFill>
            <a:srgbClr val="FAEEDA"/>
          </a:solidFill>
          <a:ln cap="flat" cmpd="sng" w="9525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7315200" y="1545336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Médio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8046720" y="1581912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320040" y="2029968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365760" y="2121408"/>
            <a:ext cx="365760" cy="365760"/>
          </a:xfrm>
          <a:prstGeom prst="rect">
            <a:avLst/>
          </a:prstGeom>
          <a:solidFill>
            <a:srgbClr val="A32D2D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365760" y="21214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868680" y="210312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Criar pillar page de Fidelização (prioridade máxima do negócio)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5989320" y="217627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Fidelização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7315200" y="2157984"/>
            <a:ext cx="658368" cy="237744"/>
          </a:xfrm>
          <a:prstGeom prst="rect">
            <a:avLst/>
          </a:prstGeom>
          <a:solidFill>
            <a:srgbClr val="FAEEDA"/>
          </a:solidFill>
          <a:ln cap="flat" cmpd="sng" w="9525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7315200" y="2157984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Médio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8046720" y="2194560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Estratégico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365760" y="2734056"/>
            <a:ext cx="365760" cy="365760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365760" y="27340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868680" y="271576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Criar pillar page de Gestão operacional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5989320" y="27889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Gestão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7315200" y="2770632"/>
            <a:ext cx="658368" cy="237744"/>
          </a:xfrm>
          <a:prstGeom prst="rect">
            <a:avLst/>
          </a:prstGeom>
          <a:solidFill>
            <a:srgbClr val="FAEEDA"/>
          </a:solidFill>
          <a:ln cap="flat" cmpd="sng" w="9525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7315200" y="2770632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Médio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8046720" y="2807208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320040" y="3255264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8"/>
          <p:cNvSpPr/>
          <p:nvPr/>
        </p:nvSpPr>
        <p:spPr>
          <a:xfrm>
            <a:off x="365760" y="3346704"/>
            <a:ext cx="365760" cy="365760"/>
          </a:xfrm>
          <a:prstGeom prst="rect">
            <a:avLst/>
          </a:prstGeom>
          <a:solidFill>
            <a:srgbClr val="2C5F8A"/>
          </a:solidFill>
          <a:ln cap="flat" cmpd="sng" w="12700">
            <a:solidFill>
              <a:srgbClr val="2C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365760" y="33467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868680" y="332841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Otimizar artigos de Mercado com alto volume e CTR baixo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5989320" y="34015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Mercado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7315200" y="3383280"/>
            <a:ext cx="658368" cy="237744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7315200" y="338328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Baixo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8046720" y="341985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Médio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365760" y="3959352"/>
            <a:ext cx="365760" cy="365760"/>
          </a:xfrm>
          <a:prstGeom prst="rect">
            <a:avLst/>
          </a:prstGeom>
          <a:solidFill>
            <a:srgbClr val="854F0B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365760" y="3959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868680" y="3941064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Criar categoria Financeiro + migrar artigos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5989320" y="401421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Financeiro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7315200" y="3995928"/>
            <a:ext cx="658368" cy="237744"/>
          </a:xfrm>
          <a:prstGeom prst="rect">
            <a:avLst/>
          </a:prstGeom>
          <a:solidFill>
            <a:srgbClr val="FCEBEB"/>
          </a:solidFill>
          <a:ln cap="flat" cmpd="sng" w="9525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8"/>
          <p:cNvSpPr/>
          <p:nvPr/>
        </p:nvSpPr>
        <p:spPr>
          <a:xfrm>
            <a:off x="7315200" y="3995928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8046720" y="4032504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Médio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320040" y="4480560"/>
            <a:ext cx="85039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8"/>
          <p:cNvSpPr/>
          <p:nvPr/>
        </p:nvSpPr>
        <p:spPr>
          <a:xfrm>
            <a:off x="365760" y="4572000"/>
            <a:ext cx="365760" cy="365760"/>
          </a:xfrm>
          <a:prstGeom prst="rect">
            <a:avLst/>
          </a:prstGeom>
          <a:solidFill>
            <a:srgbClr val="7B5EA7"/>
          </a:solidFill>
          <a:ln cap="flat" cmpd="sng" w="12700">
            <a:solidFill>
              <a:srgbClr val="7B5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8"/>
          <p:cNvSpPr/>
          <p:nvPr/>
        </p:nvSpPr>
        <p:spPr>
          <a:xfrm>
            <a:off x="36576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868680" y="455371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Avaliar subcluster Loja de Conveniência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5989320" y="462686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Gestão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7315200" y="4608576"/>
            <a:ext cx="658368" cy="237744"/>
          </a:xfrm>
          <a:prstGeom prst="rect">
            <a:avLst/>
          </a:prstGeom>
          <a:solidFill>
            <a:srgbClr val="FAEEDA"/>
          </a:solidFill>
          <a:ln cap="flat" cmpd="sng" w="9525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8"/>
          <p:cNvSpPr/>
          <p:nvPr/>
        </p:nvSpPr>
        <p:spPr>
          <a:xfrm>
            <a:off x="7315200" y="4608576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Médio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8046720" y="4645152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Médio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868680" y="64922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5989320" y="64922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7315200" y="649224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Esforço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8046720" y="649224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8"/>
          <p:cNvCxnSpPr/>
          <p:nvPr/>
        </p:nvCxnSpPr>
        <p:spPr>
          <a:xfrm>
            <a:off x="320040" y="850392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AF0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8"/>
          <p:cNvSpPr/>
          <p:nvPr/>
        </p:nvSpPr>
        <p:spPr>
          <a:xfrm>
            <a:off x="365760" y="4988052"/>
            <a:ext cx="8412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ClubPetro · Arquitetura de Conteúdo · Abril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8046720" y="498805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C3489"/>
          </a:solidFill>
          <a:ln cap="flat" cmpd="sng" w="12700">
            <a:solidFill>
              <a:srgbClr val="3C3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D3557"/>
                </a:solidFill>
                <a:latin typeface="Calibri"/>
                <a:ea typeface="Calibri"/>
                <a:cs typeface="Calibri"/>
                <a:sym typeface="Calibri"/>
              </a:rPr>
              <a:t>O que estamos pedindo para aprovar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320040" y="822960"/>
            <a:ext cx="411480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320040" y="822960"/>
            <a:ext cx="4114800" cy="64008"/>
          </a:xfrm>
          <a:prstGeom prst="rect">
            <a:avLst/>
          </a:prstGeom>
          <a:solidFill>
            <a:srgbClr val="1D3557"/>
          </a:solidFill>
          <a:ln cap="flat" cmpd="sng" w="12700">
            <a:solidFill>
              <a:srgbClr val="1D3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502920" y="9144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35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3557"/>
                </a:solidFill>
                <a:latin typeface="Calibri"/>
                <a:ea typeface="Calibri"/>
                <a:cs typeface="Calibri"/>
                <a:sym typeface="Calibri"/>
              </a:rPr>
              <a:t>O que precisamos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502920" y="1371600"/>
            <a:ext cx="201168" cy="201168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2C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502920" y="13716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804672" y="13716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Aprovação da arquitetura de 9 clusters e 11 pillar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502920" y="1938528"/>
            <a:ext cx="201168" cy="201168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2C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502920" y="19385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804672" y="193852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Definição da categoria Financeiro no WordPress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502920" y="2505456"/>
            <a:ext cx="201168" cy="201168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2C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>
            <a:off x="502920" y="250545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804672" y="250545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Calendário editorial para produção das pillar pages (11 no total)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502920" y="3072384"/>
            <a:ext cx="201168" cy="201168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2C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502920" y="307238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804672" y="3072384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Alinhamento sobre artigos a migrar de Gestão → Financeiro (5 artigos)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502920" y="3639312"/>
            <a:ext cx="201168" cy="201168"/>
          </a:xfrm>
          <a:prstGeom prst="rect">
            <a:avLst/>
          </a:prstGeom>
          <a:solidFill>
            <a:srgbClr val="E6F1FB"/>
          </a:solidFill>
          <a:ln cap="flat" cmpd="sng" w="9525">
            <a:solidFill>
              <a:srgbClr val="2C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502920" y="363931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804672" y="363931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Prioridade para as ações de baixo esforço já identificadas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4709160" y="822960"/>
            <a:ext cx="411480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>
            <a:off x="4709160" y="822960"/>
            <a:ext cx="4114800" cy="64008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4892040" y="9144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O que acontece com aprovação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4892040" y="1371600"/>
            <a:ext cx="201168" cy="201168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4892040" y="13716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5193792" y="13716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Fidelização passa a existir no Google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5193792" y="16459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O produto principal da empresa ganha visibilidade orgânica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4892040" y="2084832"/>
            <a:ext cx="201168" cy="201168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>
            <a:off x="4892040" y="208483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5193792" y="20848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CTR pode dobrar sem novos artigos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5193792" y="23591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Só com otimização de títulos nos artigos existentes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4892040" y="2798064"/>
            <a:ext cx="201168" cy="201168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9"/>
          <p:cNvSpPr/>
          <p:nvPr/>
        </p:nvSpPr>
        <p:spPr>
          <a:xfrm>
            <a:off x="4892040" y="279806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5193792" y="279806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105k impressões de frentistas convertidas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5193792" y="307238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Pillar page transforma visibilidade em cliques reais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4892040" y="3511296"/>
            <a:ext cx="201168" cy="201168"/>
          </a:xfrm>
          <a:prstGeom prst="rect">
            <a:avLst/>
          </a:prstGeom>
          <a:solidFill>
            <a:srgbClr val="E1F5EE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9"/>
          <p:cNvSpPr/>
          <p:nvPr/>
        </p:nvSpPr>
        <p:spPr>
          <a:xfrm>
            <a:off x="4892040" y="351129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5193792" y="351129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Blog se torna referência no setor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5193792" y="378561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Clusters criam autoridade de domínio sustentável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AF0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9"/>
          <p:cNvSpPr/>
          <p:nvPr/>
        </p:nvSpPr>
        <p:spPr>
          <a:xfrm>
            <a:off x="365760" y="4988052"/>
            <a:ext cx="8412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ClubPetro · Arquitetura de Conteúdo · Abril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8046720" y="498805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98A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098A9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557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548640" y="548640"/>
            <a:ext cx="5029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Próximos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594360" y="23317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1143000" y="23774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Aprovação da arquitetura e calendário editorial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594360" y="284378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1143000" y="288950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Criar categoria Financeiro no WordPress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594360" y="33558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1143000" y="340156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Iniciar pillar page de Frentistas (maior ROI imediato)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594360" y="386791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1143000" y="39136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Otimizar títulos dos artigos com alto volume e CTR baixo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594360" y="437997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1143000" y="442569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Criar pillar page de Fidelização (prioridade estratégica)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6217920" y="548640"/>
            <a:ext cx="2606040" cy="4206240"/>
          </a:xfrm>
          <a:prstGeom prst="rect">
            <a:avLst/>
          </a:prstGeom>
          <a:solidFill>
            <a:srgbClr val="16293F"/>
          </a:solidFill>
          <a:ln cap="flat" cmpd="sng" w="12700">
            <a:solidFill>
              <a:srgbClr val="162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6400800" y="77724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Fontes de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6400800" y="118872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A8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EA8CC"/>
                </a:solidFill>
                <a:latin typeface="Calibri"/>
                <a:ea typeface="Calibri"/>
                <a:cs typeface="Calibri"/>
                <a:sym typeface="Calibri"/>
              </a:rPr>
              <a:t>Google Search Console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6400800" y="151790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A8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EA8CC"/>
                </a:solidFill>
                <a:latin typeface="Calibri"/>
                <a:ea typeface="Calibri"/>
                <a:cs typeface="Calibri"/>
                <a:sym typeface="Calibri"/>
              </a:rPr>
              <a:t>blog.clubpetro.com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6400800" y="184708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A8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EA8CC"/>
                </a:solidFill>
                <a:latin typeface="Calibri"/>
                <a:ea typeface="Calibri"/>
                <a:cs typeface="Calibri"/>
                <a:sym typeface="Calibri"/>
              </a:rPr>
              <a:t>Período: Jan–Abr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6400800" y="21762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A8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EA8CC"/>
                </a:solidFill>
                <a:latin typeface="Calibri"/>
                <a:ea typeface="Calibri"/>
                <a:cs typeface="Calibri"/>
                <a:sym typeface="Calibri"/>
              </a:rPr>
              <a:t>1.000 consultas analisadas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6400800" y="283464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A8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EA8CC"/>
                </a:solidFill>
                <a:latin typeface="Calibri"/>
                <a:ea typeface="Calibri"/>
                <a:cs typeface="Calibri"/>
                <a:sym typeface="Calibri"/>
              </a:rPr>
              <a:t>Google Keyword Planner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6400800" y="316382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A8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EA8CC"/>
                </a:solidFill>
                <a:latin typeface="Calibri"/>
                <a:ea typeface="Calibri"/>
                <a:cs typeface="Calibri"/>
                <a:sym typeface="Calibri"/>
              </a:rPr>
              <a:t>47 termos pesquisados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6400800" y="349300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A8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EA8CC"/>
                </a:solidFill>
                <a:latin typeface="Calibri"/>
                <a:ea typeface="Calibri"/>
                <a:cs typeface="Calibri"/>
                <a:sym typeface="Calibri"/>
              </a:rPr>
              <a:t>Período: Abr 2025–Mar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10"/>
          <p:cNvCxnSpPr/>
          <p:nvPr/>
        </p:nvCxnSpPr>
        <p:spPr>
          <a:xfrm>
            <a:off x="594360" y="4800600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3A5A7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10"/>
          <p:cNvSpPr/>
          <p:nvPr/>
        </p:nvSpPr>
        <p:spPr>
          <a:xfrm>
            <a:off x="594360" y="4846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A8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EA8CC"/>
                </a:solidFill>
                <a:latin typeface="Calibri"/>
                <a:ea typeface="Calibri"/>
                <a:cs typeface="Calibri"/>
                <a:sym typeface="Calibri"/>
              </a:rPr>
              <a:t>blog.clubpetro.com · Arquitetura de Conteúdo · Abril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2026-04-16T16:45:49Z</dcterms:created>
  <dc:creator>PptxGenJS</dc:creator>
</cp:coreProperties>
</file>